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Relationship Id="rId10" Type="http://schemas.openxmlformats.org/officeDocument/2006/relationships/slide" Target="slides/slide2.xml"/>
<Relationship Id="rId11" Type="http://schemas.openxmlformats.org/officeDocument/2006/relationships/slide" Target="slides/slide3.xml"/>
<Relationship Id="rId12" Type="http://schemas.openxmlformats.org/officeDocument/2006/relationships/slide" Target="slides/slide4.xml"/>
<Relationship Id="rId13" Type="http://schemas.openxmlformats.org/officeDocument/2006/relationships/slide" Target="slides/slide5.xml"/>
<Relationship Id="rId14" Type="http://schemas.openxmlformats.org/officeDocument/2006/relationships/slide" Target="slides/slide6.xml"/>
<Relationship Id="rId15" Type="http://schemas.openxmlformats.org/officeDocument/2006/relationships/slide" Target="slides/slide7.xml"/>
<Relationship Id="rId16" Type="http://schemas.openxmlformats.org/officeDocument/2006/relationships/slide" Target="slides/slide8.xml"/>
<Relationship Id="rId17" Type="http://schemas.openxmlformats.org/officeDocument/2006/relationships/slide" Target="slides/slide9.xml"/>
<Relationship Id="rId18" Type="http://schemas.openxmlformats.org/officeDocument/2006/relationships/slide" Target="slides/slide10.xml"/>
<Relationship Id="rId19" Type="http://schemas.openxmlformats.org/officeDocument/2006/relationships/slide" Target="slides/slide11.xml"/>
<Relationship Id="rId20" Type="http://schemas.openxmlformats.org/officeDocument/2006/relationships/slide" Target="slides/slide12.xml"/>
<Relationship Id="rId21" Type="http://schemas.openxmlformats.org/officeDocument/2006/relationships/slide" Target="slides/slide13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_rels/notesSlide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
</file>

<file path=ppt/notesSlides/_rels/notesSlide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
</file>

<file path=ppt/notesSlides/_rels/notesSlide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
</file>

<file path=ppt/notesSlides/_rels/notesSlide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
</file>

<file path=ppt/notesSlides/_rels/notesSlide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
</file>

<file path=ppt/notesSlides/_rels/notesSlide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
</file>

<file path=ppt/notesSlides/_rels/notesSlide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
</file>

<file path=ppt/notesSlides/_rels/notesSlide1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
</file>

<file path=ppt/notesSlides/_rels/notesSlide1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
</file>

<file path=ppt/notesSlides/_rels/notesSlide1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
</file>

<file path=ppt/notesSlides/_rels/notesSlide1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Hoje eu trouxe muitos gráficos. Mas quero combinar uma coisa logo no começo: cada ponto, cada barra desses gráficos é uma pessoa como você.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Valide a experiência da plateia. Quem vive com HS sabe: não é 'só um caroço'. É dor, é recidiva, é impacto profundo na vida.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Desmistifique: são dados anônimos e protegidos. É como contar quantas pessoas passaram por uma porta, sem saber quem são.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Se os dados mostram poucos casos em um lugar, isso pode não significar 'pouca doença'. Pode significar 'pouca gente conseguindo ser atendida'.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É uma boa notícia: mais pessoas estão sendo vistas. Mas a pergunta é: todas as regiões cresceram igual? Já já a gente descobre que não. (Dica: na arte final, simplifique para mostrar só a linha do atendimento ambulatorial subindo.)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Esse perfil provavelmente se parece com muitos de vocês aqui. É uma doença que atinge pessoas no auge da vida produtiva e pessoal — sobretudo mulheres jovens.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A maior parte dos atendimentos hoje é a entrega do medicamento biológico (adalimumabe). Biossimilar não é remédio de segunda linha: é equivalente, com mesma eficácia e segurança, custando menos. Cada real economizado pode virar acesso para outra pessoa.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Não é que a HS não exista no Norte e no Nordeste. É que, em muitos lugares, não há quem diagnostique. Onde há mais dermatologistas, encontra-se mais HS — a diferença de oferta chega a 6 vezes entre estados. Uma doença que ninguém vê é uma doença que ninguém trata.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Atrás de cada espaço claro nesse mapa há gente convivendo com dor sem diagnóstico. Muitos são confundidos com 'abscesso' e demoram anos para descobrir o que têm. Eles existem mesmo quando o dado não os mostra.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A HS raramente mata — mas afeta profundamente o viver. E o sistema ainda registra mal tudo o que vem junto com ela.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Enquadre como direito e esperança: essas não são ideias soltas — saem diretamente do que os dados mostraram. São pedidos legítimos de quem usa o SUS.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Pausa. Eu mostrei muitos números hoje. Mas o mais importante é este: cada um deles é uma pessoa que merece ser vista, diagnosticada e cuidada. Vocês não são dados. São cidadãos.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Procurem cuidado, procurem apoio, não se isolem. E obrigado pela presença e pela confiança.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38b7a3138f26444df63ed9114debbe1de49dc179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3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4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5.xml"/>
<Relationship Id="rId3" Type="http://schemas.openxmlformats.org/officeDocument/2006/relationships/image" Target="../media/be32581fa705808045219580592746a02141b88b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6.xml"/>
<Relationship Id="rId3" Type="http://schemas.openxmlformats.org/officeDocument/2006/relationships/image" Target="../media/b92d62b23aaceb58202471dee065ec10476c391c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7.xml"/>
<Relationship Id="rId3" Type="http://schemas.openxmlformats.org/officeDocument/2006/relationships/image" Target="../media/89b371600e76b195c17b6d536c393b5a62e22714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8.xml"/>
<Relationship Id="rId3" Type="http://schemas.openxmlformats.org/officeDocument/2006/relationships/image" Target="../media/e2a5021274bf0353f1c8a317e2f8575b038528f9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9.xml"/>
<Relationship Id="rId3" Type="http://schemas.openxmlformats.org/officeDocument/2006/relationships/image" Target="../media/99863d05fd7d79aecb46c987a348fe4c29486fa3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2.xml"/>
<Relationship Id="rId3" Type="http://schemas.openxmlformats.org/officeDocument/2006/relationships/image" Target="../media/38b7a3138f26444df63ed9114debbe1de49dc17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3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731520" y="2377440"/>
            <a:ext cx="768096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Hidradenite Supurativa: o que os dados do SUS contam sobre o nosso cuidado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31520" y="4206240"/>
            <a:ext cx="7680960" cy="1371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E9CDC9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Uma conversa sobre números — e sobre pessoas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que é a Hidradenite Supurativa?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554480"/>
            <a:ext cx="786384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Doença crônica, inflamatória e dolorosa da pele.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Costuma começar jovem e atinge mais mulheres.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Não é falta de higiene e não é contagiosa.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Impacta muito a qualidade de vida: dor, recidiva, trabalho, sono, autoestima.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De onde vêm estes números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554480"/>
            <a:ext cx="786384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Cada atendimento no SUS gera um registro — sem nome, protegido.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Olhamos milhões desses registros, de 2020 a 2025.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Três sistemas: atendimento ambulatorial, internações e mortalidade.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Ninguém foi identificado: é como contar quem passou por uma porta.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que os números não dizem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554480"/>
            <a:ext cx="786384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Eles contam QUEM é atendido — não quantos TÊM a doença.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Muita gente com HS ainda não chegou ao sistema.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Poucos casos em um lugar pode significar pouco ACESSO, não pouca doença.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[Sugestão de arte: metáfora do iceberg — ponta visível x base submersa]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Cada vez mais pessoas sendo atendidas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85800" y="1417320"/>
            <a:ext cx="777240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6309360"/>
            <a:ext cx="78638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Atendimentos por HS ao longo dos anos.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Quem é o paciente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85800" y="1417320"/>
            <a:ext cx="777240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6309360"/>
            <a:ext cx="78638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maioria são mulheres adultas jovens.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tratamento que mudou o jogo: o biológico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2706624" y="1417320"/>
            <a:ext cx="3730752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6309360"/>
            <a:ext cx="78638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SUS migrou do medicamento de referência para versões biossimilares (equivalentes e mais econômicas).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Onde você mora muda o seu acesso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685800" y="1417320"/>
            <a:ext cx="777240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6309360"/>
            <a:ext cx="78638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Quanto mais escuro, mais HS é encontrada. O cuidado não está distribuído de forma justa.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paciente invisível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2499360" y="1417320"/>
            <a:ext cx="414528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6309360"/>
            <a:ext cx="78638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81609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Cada espaço vazio ou claro representa pessoas que ainda não estão sendo alcançadas.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doença pesa pelo dia a dia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554480"/>
            <a:ext cx="786384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 HS quase não aparece como causa de morte.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Ela pesa pelo sofrimento crônico, pelo custo e pela qualidade de vida.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 complexidade do paciente (outras condições) muitas vezes nem é registrada.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Sua história completa nem sempre é anotada pelo sistema.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que pode (e precisa) melhorar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554480"/>
            <a:ext cx="786384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Mais diagnóstico na porta de entrada (capacitar a atenção básica).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Teledermatologia para levar o especialista a quem está longe.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Acesso justo ao medicamento em todas as regiões.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Ouvir o paciente e registrar sua história por completo.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731520" y="2377440"/>
            <a:ext cx="768096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Vocês não são números.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31520" y="4206240"/>
            <a:ext cx="7680960" cy="1371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E9CDC9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Por trás de cada gráfico há cidadãos com direito à atenção do sistema de saúde.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3657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Onde buscar cuidado e apoio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554480"/>
            <a:ext cx="786384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Serviço de referência em dermatologia da sua região.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Associações de pacientes com HS (apoio e informação).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Canais de informação confiáveis sobre a doença e o tratamento.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cap="none" sz="2200" i="0" b="0" u="none" strike="noStrike">
                <a:solidFill>
                  <a:srgbClr val="3E2A4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Obrigado por confiarem a mim a tarefa de contar a história de vocês com respeito.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ronaldmoura</cp:lastModifiedBy>
  <cp:revision>3</cp:revision>
  <dcterms:created xsi:type="dcterms:W3CDTF">2017-02-13T16:18:36Z</dcterms:created>
  <dcterms:modified xsi:type="dcterms:W3CDTF">2026-06-06T20:50:13Z</dcterms:modified>
  <cp:category/>
</cp:coreProperties>
</file>